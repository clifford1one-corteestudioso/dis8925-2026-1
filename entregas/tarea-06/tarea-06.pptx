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9b95cacd3_0_6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9b95cacd3_7_0)">
  <p:cSld name="Generated (g3d9b95cacd3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/>
        </p:nvSpPr>
        <p:spPr>
          <a:xfrm>
            <a:off x="285750" y="1428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50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User Persona: Bruno Díaz</a:t>
            </a:r>
            <a:endParaRPr b="1" sz="1850">
              <a:solidFill>
                <a:srgbClr val="1A20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285750" y="762000"/>
            <a:ext cx="2667000" cy="40959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285750" y="762000"/>
            <a:ext cx="2667000" cy="1238400"/>
          </a:xfrm>
          <a:prstGeom prst="roundRect">
            <a:avLst>
              <a:gd fmla="val 61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1362075" y="104775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Bruno Díaz</a:t>
            </a:r>
            <a:endParaRPr b="1" sz="14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solidFill>
                  <a:srgbClr val="64748B"/>
                </a:solidFill>
              </a:rPr>
              <a:t>Doctor en Historia</a:t>
            </a:r>
            <a:endParaRPr i="1"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441960" y="2143125"/>
            <a:ext cx="2381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BIOGRAFÍA</a:t>
            </a:r>
            <a:endParaRPr b="1" sz="1000">
              <a:solidFill>
                <a:srgbClr val="2D374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Profesional con amplia trayectoria en el sector </a:t>
            </a:r>
            <a:r>
              <a:rPr lang="es" sz="950">
                <a:solidFill>
                  <a:srgbClr val="4A5568"/>
                </a:solidFill>
              </a:rPr>
              <a:t>social</a:t>
            </a:r>
            <a:r>
              <a:rPr b="0" lang="e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s" sz="950">
                <a:solidFill>
                  <a:srgbClr val="4A5568"/>
                </a:solidFill>
              </a:rPr>
              <a:t> siempre atento de los eventos y reacciones de la comunidad actual</a:t>
            </a:r>
            <a:r>
              <a:rPr b="0" lang="e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. Busca constantemente innovar en sus campañas y liderar equipos de alto rendimiento.</a:t>
            </a:r>
            <a:endParaRPr b="0"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476250" y="3333750"/>
            <a:ext cx="2286150" cy="1428900"/>
            <a:chOff x="0" y="0"/>
            <a:chExt cx="2286150" cy="1428900"/>
          </a:xfrm>
        </p:grpSpPr>
        <p:sp>
          <p:nvSpPr>
            <p:cNvPr id="61" name="Google Shape;61;p14"/>
            <p:cNvSpPr txBox="1"/>
            <p:nvPr/>
          </p:nvSpPr>
          <p:spPr>
            <a:xfrm>
              <a:off x="0" y="0"/>
              <a:ext cx="1047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Edad:</a:t>
              </a:r>
              <a:endParaRPr b="1" sz="9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2D3748"/>
                  </a:solidFill>
                </a:rPr>
                <a:t>5</a:t>
              </a:r>
              <a:r>
                <a:rPr b="0" lang="es" sz="900">
                  <a:solidFill>
                    <a:srgbClr val="2D3748"/>
                  </a:solidFill>
                  <a:latin typeface="Arial"/>
                  <a:ea typeface="Arial"/>
                  <a:cs typeface="Arial"/>
                  <a:sym typeface="Arial"/>
                </a:rPr>
                <a:t>5 años</a:t>
              </a:r>
              <a:endParaRPr b="0" sz="9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Sexo:</a:t>
              </a:r>
              <a:endParaRPr b="1" sz="9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2D3748"/>
                  </a:solidFill>
                </a:rPr>
                <a:t>Masculino</a:t>
              </a:r>
              <a:endParaRPr b="0" sz="9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Estado Civil:</a:t>
              </a:r>
              <a:endParaRPr b="1" sz="9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2D3748"/>
                  </a:solidFill>
                </a:rPr>
                <a:t>Soltero</a:t>
              </a:r>
              <a:endParaRPr b="0" sz="9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1238250" y="0"/>
              <a:ext cx="1047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País:</a:t>
              </a:r>
              <a:endParaRPr b="1" sz="9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2D3748"/>
                  </a:solidFill>
                </a:rPr>
                <a:t>Chile</a:t>
              </a:r>
              <a:endParaRPr b="0" sz="9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Educación:</a:t>
              </a:r>
              <a:endParaRPr b="1" sz="9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2D3748"/>
                  </a:solidFill>
                </a:rPr>
                <a:t>Postgrado</a:t>
              </a:r>
              <a:endParaRPr b="0" sz="9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Ocupación:</a:t>
              </a:r>
              <a:endParaRPr b="1" sz="9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2D3748"/>
                  </a:solidFill>
                </a:rPr>
                <a:t>Asistente de Investigación</a:t>
              </a:r>
              <a:endParaRPr b="0" sz="900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4"/>
          <p:cNvSpPr/>
          <p:nvPr/>
        </p:nvSpPr>
        <p:spPr>
          <a:xfrm>
            <a:off x="3143250" y="762000"/>
            <a:ext cx="2762400" cy="4095900"/>
          </a:xfrm>
          <a:prstGeom prst="roundRect">
            <a:avLst>
              <a:gd fmla="val 27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333750" y="952500"/>
            <a:ext cx="2381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HÁBITOS DE COMPRA</a:t>
            </a:r>
            <a:endParaRPr b="1" sz="12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s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Realiza compras meditadas</a:t>
            </a:r>
            <a:r>
              <a:rPr lang="es" sz="950">
                <a:solidFill>
                  <a:srgbClr val="4A5568"/>
                </a:solidFill>
              </a:rPr>
              <a:t>. Compara precios y opciones antes de decidir. Prefiere comercio online, por tiempo.</a:t>
            </a:r>
            <a:endParaRPr b="0"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333750" y="2009775"/>
            <a:ext cx="23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  <a:endParaRPr b="1" sz="12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333750" y="2895600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GUSTOS Y AFICIONES</a:t>
            </a:r>
            <a:endParaRPr b="1" sz="12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>
            <a:off x="3333750" y="3228975"/>
            <a:ext cx="2286150" cy="1381125"/>
            <a:chOff x="0" y="0"/>
            <a:chExt cx="2286150" cy="1381125"/>
          </a:xfrm>
        </p:grpSpPr>
        <p:grpSp>
          <p:nvGrpSpPr>
            <p:cNvPr id="68" name="Google Shape;68;p14"/>
            <p:cNvGrpSpPr/>
            <p:nvPr/>
          </p:nvGrpSpPr>
          <p:grpSpPr>
            <a:xfrm>
              <a:off x="0" y="0"/>
              <a:ext cx="666900" cy="762000"/>
              <a:chOff x="0" y="0"/>
              <a:chExt cx="666900" cy="7620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0" y="0"/>
                <a:ext cx="6669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0" y="26289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palette</a:t>
                </a:r>
                <a:endParaRPr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1" name="Google Shape;71;p14"/>
              <p:cNvSpPr txBox="1"/>
              <p:nvPr/>
            </p:nvSpPr>
            <p:spPr>
              <a:xfrm>
                <a:off x="0" y="333375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64748B"/>
                    </a:solidFill>
                  </a:rPr>
                  <a:t>Arte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>
              <a:off x="809625" y="0"/>
              <a:ext cx="666900" cy="762000"/>
              <a:chOff x="0" y="0"/>
              <a:chExt cx="666900" cy="7620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0" y="0"/>
                <a:ext cx="6669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 txBox="1"/>
              <p:nvPr/>
            </p:nvSpPr>
            <p:spPr>
              <a:xfrm>
                <a:off x="0" y="26289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photo_camera</a:t>
                </a:r>
                <a:endParaRPr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5" name="Google Shape;75;p14"/>
              <p:cNvSpPr txBox="1"/>
              <p:nvPr/>
            </p:nvSpPr>
            <p:spPr>
              <a:xfrm>
                <a:off x="0" y="333375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Fotografía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14"/>
            <p:cNvGrpSpPr/>
            <p:nvPr/>
          </p:nvGrpSpPr>
          <p:grpSpPr>
            <a:xfrm>
              <a:off x="1619250" y="0"/>
              <a:ext cx="666900" cy="762000"/>
              <a:chOff x="0" y="0"/>
              <a:chExt cx="666900" cy="762000"/>
            </a:xfrm>
          </p:grpSpPr>
          <p:sp>
            <p:nvSpPr>
              <p:cNvPr id="77" name="Google Shape;77;p14"/>
              <p:cNvSpPr/>
              <p:nvPr/>
            </p:nvSpPr>
            <p:spPr>
              <a:xfrm>
                <a:off x="0" y="0"/>
                <a:ext cx="6669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 txBox="1"/>
              <p:nvPr/>
            </p:nvSpPr>
            <p:spPr>
              <a:xfrm>
                <a:off x="0" y="52578"/>
                <a:ext cx="6669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1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public</a:t>
                </a:r>
                <a:endParaRPr b="0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9" name="Google Shape;79;p14"/>
              <p:cNvSpPr txBox="1"/>
              <p:nvPr/>
            </p:nvSpPr>
            <p:spPr>
              <a:xfrm>
                <a:off x="0" y="333375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64748B"/>
                    </a:solidFill>
                  </a:rPr>
                  <a:t>Cultura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14"/>
            <p:cNvGrpSpPr/>
            <p:nvPr/>
          </p:nvGrpSpPr>
          <p:grpSpPr>
            <a:xfrm>
              <a:off x="0" y="619125"/>
              <a:ext cx="666900" cy="762000"/>
              <a:chOff x="0" y="0"/>
              <a:chExt cx="666900" cy="762000"/>
            </a:xfrm>
          </p:grpSpPr>
          <p:sp>
            <p:nvSpPr>
              <p:cNvPr id="81" name="Google Shape;81;p14"/>
              <p:cNvSpPr/>
              <p:nvPr/>
            </p:nvSpPr>
            <p:spPr>
              <a:xfrm>
                <a:off x="0" y="0"/>
                <a:ext cx="6669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0" y="26289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business_center</a:t>
                </a:r>
                <a:endParaRPr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3" name="Google Shape;83;p14"/>
              <p:cNvSpPr txBox="1"/>
              <p:nvPr/>
            </p:nvSpPr>
            <p:spPr>
              <a:xfrm>
                <a:off x="0" y="333375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64748B"/>
                    </a:solidFill>
                  </a:rPr>
                  <a:t>Historia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14"/>
            <p:cNvGrpSpPr/>
            <p:nvPr/>
          </p:nvGrpSpPr>
          <p:grpSpPr>
            <a:xfrm>
              <a:off x="809625" y="619125"/>
              <a:ext cx="666900" cy="762000"/>
              <a:chOff x="0" y="0"/>
              <a:chExt cx="666900" cy="762000"/>
            </a:xfrm>
          </p:grpSpPr>
          <p:sp>
            <p:nvSpPr>
              <p:cNvPr id="85" name="Google Shape;85;p14"/>
              <p:cNvSpPr/>
              <p:nvPr/>
            </p:nvSpPr>
            <p:spPr>
              <a:xfrm>
                <a:off x="0" y="0"/>
                <a:ext cx="6669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 txBox="1"/>
              <p:nvPr/>
            </p:nvSpPr>
            <p:spPr>
              <a:xfrm>
                <a:off x="0" y="26289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auto_stories</a:t>
                </a:r>
                <a:endParaRPr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7" name="Google Shape;87;p14"/>
              <p:cNvSpPr txBox="1"/>
              <p:nvPr/>
            </p:nvSpPr>
            <p:spPr>
              <a:xfrm>
                <a:off x="0" y="333375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Leer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88;p14"/>
            <p:cNvGrpSpPr/>
            <p:nvPr/>
          </p:nvGrpSpPr>
          <p:grpSpPr>
            <a:xfrm>
              <a:off x="1619250" y="619125"/>
              <a:ext cx="666900" cy="762000"/>
              <a:chOff x="0" y="0"/>
              <a:chExt cx="666900" cy="762000"/>
            </a:xfrm>
          </p:grpSpPr>
          <p:sp>
            <p:nvSpPr>
              <p:cNvPr id="89" name="Google Shape;89;p14"/>
              <p:cNvSpPr/>
              <p:nvPr/>
            </p:nvSpPr>
            <p:spPr>
              <a:xfrm>
                <a:off x="0" y="0"/>
                <a:ext cx="6669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 txBox="1"/>
              <p:nvPr/>
            </p:nvSpPr>
            <p:spPr>
              <a:xfrm>
                <a:off x="0" y="52578"/>
                <a:ext cx="6669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18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b="0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91" name="Google Shape;91;p14"/>
              <p:cNvSpPr txBox="1"/>
              <p:nvPr/>
            </p:nvSpPr>
            <p:spPr>
              <a:xfrm>
                <a:off x="0" y="333375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800">
                    <a:solidFill>
                      <a:srgbClr val="64748B"/>
                    </a:solidFill>
                  </a:rPr>
                  <a:t>Idiosincracia</a:t>
                </a:r>
                <a:endParaRPr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2" name="Google Shape;92;p14"/>
          <p:cNvSpPr/>
          <p:nvPr/>
        </p:nvSpPr>
        <p:spPr>
          <a:xfrm>
            <a:off x="6096000" y="762000"/>
            <a:ext cx="2762400" cy="4095900"/>
          </a:xfrm>
          <a:prstGeom prst="roundRect">
            <a:avLst>
              <a:gd fmla="val 27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286500" y="952500"/>
            <a:ext cx="238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¿QUÉ PIENSA?</a:t>
            </a:r>
            <a:endParaRPr b="1" sz="12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950">
                <a:solidFill>
                  <a:srgbClr val="4A5568"/>
                </a:solidFill>
              </a:rPr>
              <a:t>Debemos impulsar y participar en </a:t>
            </a:r>
            <a:r>
              <a:rPr lang="es" sz="950">
                <a:solidFill>
                  <a:srgbClr val="4A5568"/>
                </a:solidFill>
              </a:rPr>
              <a:t>actividades</a:t>
            </a:r>
            <a:r>
              <a:rPr lang="es" sz="950">
                <a:solidFill>
                  <a:srgbClr val="4A5568"/>
                </a:solidFill>
              </a:rPr>
              <a:t> culturales para promover la cultura y el sentido de comunidad,</a:t>
            </a:r>
            <a:endParaRPr b="0"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286500" y="1762125"/>
            <a:ext cx="2430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METAS Y OBJETIVOS</a:t>
            </a:r>
            <a:endParaRPr b="1" sz="12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Char char="●"/>
            </a:pPr>
            <a:r>
              <a:rPr lang="es" sz="950">
                <a:solidFill>
                  <a:srgbClr val="4A5568"/>
                </a:solidFill>
              </a:rPr>
              <a:t>Realizar descubrimientos que aporten a la sociedad</a:t>
            </a:r>
            <a:endParaRPr b="0"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rtl="0" algn="l">
              <a:spcBef>
                <a:spcPts val="30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Char char="●"/>
            </a:pPr>
            <a:r>
              <a:rPr lang="es" sz="950">
                <a:solidFill>
                  <a:srgbClr val="4A5568"/>
                </a:solidFill>
              </a:rPr>
              <a:t>Mantener un flujo de trabajo ético</a:t>
            </a:r>
            <a:endParaRPr b="0" sz="95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rtl="0" algn="l">
              <a:spcBef>
                <a:spcPts val="30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Arial"/>
              <a:buChar char="●"/>
            </a:pPr>
            <a:r>
              <a:rPr lang="es" sz="950">
                <a:solidFill>
                  <a:srgbClr val="4A5568"/>
                </a:solidFill>
              </a:rPr>
              <a:t>Que sus proyectos </a:t>
            </a:r>
            <a:r>
              <a:rPr lang="es" sz="950">
                <a:solidFill>
                  <a:srgbClr val="4A5568"/>
                </a:solidFill>
              </a:rPr>
              <a:t>reflejan</a:t>
            </a:r>
            <a:r>
              <a:rPr lang="es" sz="950">
                <a:solidFill>
                  <a:srgbClr val="4A5568"/>
                </a:solidFill>
              </a:rPr>
              <a:t> el contexto socio-cultural que lo rodea.</a:t>
            </a:r>
            <a:endParaRPr sz="950">
              <a:solidFill>
                <a:srgbClr val="4A5568"/>
              </a:solidFill>
            </a:endParaRPr>
          </a:p>
          <a:p>
            <a:pPr indent="-288925" lvl="0" marL="457200" rtl="0" algn="l">
              <a:spcBef>
                <a:spcPts val="300"/>
              </a:spcBef>
              <a:spcAft>
                <a:spcPts val="300"/>
              </a:spcAft>
              <a:buClr>
                <a:srgbClr val="4A5568"/>
              </a:buClr>
              <a:buSzPts val="950"/>
              <a:buFont typeface="Arial"/>
              <a:buChar char="●"/>
            </a:pPr>
            <a:r>
              <a:rPr lang="es" sz="950">
                <a:solidFill>
                  <a:srgbClr val="4A5568"/>
                </a:solidFill>
              </a:rPr>
              <a:t>Inspirar a nuevas generaciones a tener conciencia social.</a:t>
            </a:r>
            <a:endParaRPr sz="950">
              <a:solidFill>
                <a:srgbClr val="4A5568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286500" y="3315040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USOS REDES SOCIALES</a:t>
            </a:r>
            <a:endParaRPr b="1" sz="12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6168368" y="3637910"/>
            <a:ext cx="2628999" cy="1147712"/>
            <a:chOff x="0" y="0"/>
            <a:chExt cx="2209800" cy="964788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666900" cy="666900"/>
            </a:xfrm>
            <a:prstGeom prst="ellipse">
              <a:avLst/>
            </a:prstGeom>
            <a:solidFill>
              <a:srgbClr val="3B82F6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64228" y="238125"/>
              <a:ext cx="53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Twitter</a:t>
              </a:r>
              <a:endParaRPr b="1" sz="11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90">
                  <a:solidFill>
                    <a:srgbClr val="FFFFFF"/>
                  </a:solidFill>
                </a:rPr>
                <a:t>40%</a:t>
              </a:r>
              <a:endParaRPr sz="1190">
                <a:solidFill>
                  <a:srgbClr val="FFFFFF"/>
                </a:solidFill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676503" y="191738"/>
              <a:ext cx="533400" cy="533400"/>
            </a:xfrm>
            <a:prstGeom prst="ellipse">
              <a:avLst/>
            </a:prstGeom>
            <a:solidFill>
              <a:srgbClr val="3B82F6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765374" y="363188"/>
              <a:ext cx="342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5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Gmail</a:t>
              </a:r>
              <a:endParaRPr b="1" sz="95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52">
                  <a:solidFill>
                    <a:srgbClr val="FFFFFF"/>
                  </a:solidFill>
                </a:rPr>
                <a:t>25%</a:t>
              </a:r>
              <a:endParaRPr sz="952">
                <a:solidFill>
                  <a:srgbClr val="FFFFFF"/>
                </a:solidFill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214054" y="17860"/>
              <a:ext cx="533400" cy="523200"/>
            </a:xfrm>
            <a:prstGeom prst="ellipse">
              <a:avLst/>
            </a:prstGeom>
            <a:solidFill>
              <a:srgbClr val="3B82F6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5"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228703" y="83636"/>
              <a:ext cx="533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5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52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linkedin</a:t>
              </a:r>
              <a:endParaRPr b="1" sz="95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52">
                  <a:solidFill>
                    <a:srgbClr val="FFFFFF"/>
                  </a:solidFill>
                </a:rPr>
                <a:t>20%</a:t>
              </a:r>
              <a:endParaRPr sz="952">
                <a:solidFill>
                  <a:srgbClr val="FFFFFF"/>
                </a:solidFill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790700" y="266700"/>
              <a:ext cx="419100" cy="419100"/>
            </a:xfrm>
            <a:prstGeom prst="ellipse">
              <a:avLst/>
            </a:prstGeom>
            <a:solidFill>
              <a:srgbClr val="3B82F6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857375" y="38100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33">
                  <a:solidFill>
                    <a:schemeClr val="lt1"/>
                  </a:solidFill>
                </a:rPr>
                <a:t>Reddit</a:t>
              </a:r>
              <a:endParaRPr b="1" sz="833">
                <a:solidFill>
                  <a:schemeClr val="lt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33">
                  <a:solidFill>
                    <a:schemeClr val="lt1"/>
                  </a:solidFill>
                </a:rPr>
                <a:t>8%</a:t>
              </a:r>
              <a:endParaRPr sz="833">
                <a:solidFill>
                  <a:schemeClr val="lt1"/>
                </a:solidFill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1424663" y="569688"/>
              <a:ext cx="395100" cy="395100"/>
            </a:xfrm>
            <a:prstGeom prst="ellipse">
              <a:avLst/>
            </a:prstGeom>
            <a:solidFill>
              <a:srgbClr val="3B82F6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65"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438137" y="676106"/>
              <a:ext cx="366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33">
                  <a:solidFill>
                    <a:schemeClr val="lt1"/>
                  </a:solidFill>
                </a:rPr>
                <a:t>JStore</a:t>
              </a:r>
              <a:br>
                <a:rPr b="1" lang="es" sz="833">
                  <a:solidFill>
                    <a:schemeClr val="lt1"/>
                  </a:solidFill>
                </a:rPr>
              </a:br>
              <a:r>
                <a:rPr lang="es" sz="833">
                  <a:solidFill>
                    <a:schemeClr val="lt1"/>
                  </a:solidFill>
                </a:rPr>
                <a:t>7%</a:t>
              </a:r>
              <a:endParaRPr sz="833">
                <a:solidFill>
                  <a:schemeClr val="lt1"/>
                </a:solidFill>
              </a:endParaRPr>
            </a:p>
          </p:txBody>
        </p:sp>
      </p:grpSp>
      <p:pic>
        <p:nvPicPr>
          <p:cNvPr id="107" name="Google Shape;107;p14" title="imagen_2026-04-27_12092018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75" y="987588"/>
            <a:ext cx="809700" cy="78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3143250" y="2214975"/>
            <a:ext cx="127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Char char="-"/>
            </a:pPr>
            <a:r>
              <a:rPr lang="es" sz="950">
                <a:solidFill>
                  <a:schemeClr val="dk2"/>
                </a:solidFill>
              </a:rPr>
              <a:t>Linkedin</a:t>
            </a:r>
            <a:endParaRPr sz="950">
              <a:solidFill>
                <a:schemeClr val="dk2"/>
              </a:solidFill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Char char="-"/>
            </a:pPr>
            <a:r>
              <a:rPr lang="es" sz="950">
                <a:solidFill>
                  <a:schemeClr val="dk2"/>
                </a:solidFill>
              </a:rPr>
              <a:t>Gmail</a:t>
            </a:r>
            <a:endParaRPr sz="950">
              <a:solidFill>
                <a:schemeClr val="dk2"/>
              </a:solidFill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Char char="-"/>
            </a:pPr>
            <a:r>
              <a:rPr lang="es" sz="950">
                <a:solidFill>
                  <a:schemeClr val="dk2"/>
                </a:solidFill>
              </a:rPr>
              <a:t>JStore</a:t>
            </a:r>
            <a:endParaRPr sz="950">
              <a:solidFill>
                <a:schemeClr val="dk2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095750" y="2223714"/>
            <a:ext cx="127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Char char="-"/>
            </a:pPr>
            <a:r>
              <a:rPr lang="es" sz="950">
                <a:solidFill>
                  <a:schemeClr val="dk2"/>
                </a:solidFill>
              </a:rPr>
              <a:t>Twitter</a:t>
            </a:r>
            <a:endParaRPr sz="950">
              <a:solidFill>
                <a:schemeClr val="dk2"/>
              </a:solidFill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Char char="-"/>
            </a:pPr>
            <a:r>
              <a:rPr lang="es" sz="950">
                <a:solidFill>
                  <a:schemeClr val="dk2"/>
                </a:solidFill>
              </a:rPr>
              <a:t>Reddit</a:t>
            </a:r>
            <a:endParaRPr sz="95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